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FD4E8"/>
                </a:solidFill>
                <a:latin typeface="Segoe UI"/>
              </a:rPr>
              <a:t>ИП 242 / ИП 245 / ИП 246 · Раздел 5. React · 2 академических часа (90 мин)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9FC5E6"/>
                </a:solidFill>
                <a:latin typeface="Segoe UI"/>
              </a:rPr>
              <a:t>Лекция 15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Основы React,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8E4F0"/>
                </a:solidFill>
                <a:latin typeface="Segoe UI"/>
              </a:rPr>
              <a:t>Каждый слайд содержит выделенный блок “ЧТО ЗАКОНСПЕКТИРОВАТЬ” — определения и ключевые термины, которые студенты записывают в конспект.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ЦЕЛЬ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Познакомить студентов с библиотекой React, дать понимание, зачем нужны её ключевые концепц…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2529"/>
                </a:solidFill>
                <a:latin typeface="Segoe UI"/>
              </a:rPr>
              <a:t>Познакомить студентов с библиотекой React, дать понимание, зачем нужны её ключевые концепции (компоненты, JSX, props, состояние), и научить ориентироваться в структуре проекта, созданного с помощью Vite.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2920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2920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3892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Познакомить студентов с библиотекой React, дать понимание, зачем нужны её ключевые концепции (компоненты, JSX, props, состояние), и научить ориентироваться в структуре проекта, созданного с помощью Vite.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Кому предназначена лекция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12529"/>
                </a:solidFill>
                <a:latin typeface="Segoe UI"/>
              </a:rPr>
              <a:t>Студенты, знакомые с основами JavaScript/TypeScript, HTML и CSS.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Требования: пройдены предыдущие лекции раздела React.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ПЛАН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О чём пойдёт речь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1. Введение в React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2. Vite — сборщик и dev-сервер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3. Детальный разбор структуры проекта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700" b="0" i="0">
                <a:solidFill>
                  <a:srgbClr val="212529"/>
                </a:solidFill>
                <a:latin typeface="Segoe UI"/>
              </a:rPr>
              <a:t>4. Практическое создание компонента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План лекции — последовательность тем, которые разбираются на паре (90 мин).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Введение в React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Введение в React — ключевая тема раздела.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React?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— это библиотека JavaScript для создания пользовательских интерфейсов (в основном одностраничных приложений — SPA). Главная идея —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компонентный подход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декларативность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: мы описываем, как интерфейс должен выглядеть при текущем состоянии данных, а React сам решает, какие элементы DOM нужно обновить.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React называют библиотекой, а не фреймворком?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React отвечает только за представление (view) — рендеринг интерфейса. Всё остальное подключается отдельными библиотеками: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React?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компонентный подход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декларативность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React называют библиотекой, а не фреймворком?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маршрутизация — React Router;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работа с сервером — TanStack Query + Axios;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формы — react-hook-form;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глобальное состояние — Zustand.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Это даёт гибкость: стек собирается под конкретную задачу.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Ключевые концепции: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даёт гибкость: стек собирается под конкретную задачу.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концепции: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Компоненты (Components):** функции, которые возвращают JSX-разметку. Каждый компонент управляет небольшим участком экрана.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Пример:* `Header`, `ProductList`, `Button`.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JSX:** расширение синтаксиса JavaScript, позволяющее писать разметку прямо в коде. Это не HTML! Основные отличия: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`className` вместо `class`;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`htmlFor` вместо `for`;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атрибуты в camelCase (`onClick`, `tabIndex`);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любые выражения JavaScript записываются в фигурных скобках: `{price * 2}`.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Props (свойства):** входные данные компонента. Передаются как атрибуты JSX, только для чтения — изменять props внутри компонента нельзя.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State (состояние):** внутренние данные компонента. Когда состояние меняется, React автоматически перерисовывает интерфейс (подробно — в лекции 18).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Хуки (Hooks):** функции (`useState`, `useEffect` и другие), дающие компоненту возможности React — состояние, побочные эффекты, контекст.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Это не HTML!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Почему TypeScript?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TypeScript — это надмножество JavaScript, которое добавляет строгую типизацию. Шаблон Vite `react-ts` настраивает TypeScript сразу. Типы помогают: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TypeScript? TypeScript — это надмножество JavaScript, которое добавляет строгую типизацию.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Почему TypeScript?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Введение в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находить ошибки на этапе разработки;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описывать контракт props компонента через `interface`;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улучшать поддержку IDE (автодополнение, навигация по коду).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Vite — сборщик и dev-сервер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Vite — сборщик и dev-сервер — ключевая тема раздела.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Что такое Vite?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Vite (франц. «быстрый») — официально рекомендованный инструмент сборки фронтенд-проектов. Он предоставляет: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Что такое Vite?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мгновенный запуск dev-сервера — не нужно ждать, пока соберётся весь проект;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горячую замену модулей (HMR) — изменения сразу видны в браузере без полной перезагрузки;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оптимизированную production-сборку в папку `dist/`.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Установка и основные команды: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Установка и основные команды: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&gt; Начиная с npm 7, в команде `npm create` нужно указывать двойное тире (`--`) перед `--template`, иначе параметр не будет передан генератору проекта.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Vite — сборщик и dev-сервер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Создание нового проекта с шаблоном React + TypeScript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create vite@latest my-app -- --template react-ts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Переход в папку проекта и установка зависимостей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cd my-app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install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Запуск dev-сервера (по умолчанию http://localhost:5173)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dev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Сборка production-версии в папку dist/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build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Проверка кода линтером (oxlint)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lint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# Локальный предпросмотр production-сборки (http://localhost:4173)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npm run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Детальный разбор структуры проекта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Детальный разбор структуры проекта — ключевая тема раздела.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Давайте посмотрим на структуру проекта, созданного командой `npm create vite@latest my-app -- --template react-ts`: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my-app/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public/                 # Статические файлы (копируются в сборку как есть)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favicon.svg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icons.svg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src/                    # Исходный код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assets/             # Ресурсы, импортируемые в код (картинки, шрифты)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├── hero.png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├── react.svg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│   └── vite.svg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App.css             # Стили корневого компонента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App.tsx             # Корневой компонент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├── index.css           # Глобальные стили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│   └── main.tsx            # Входная точка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.gitignore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.oxlintrc.json          # Настройки линтера oxlint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index.html              # Главная HTML-страница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package.json            # Зависимости и npm-скрипты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README.md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tsconfig.json           # Настройки TypeScript (ссылки на app/node)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tsconfig.app.json       # Настройки TypeScript для кода приложения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├── tsconfig.node.json      # Настройки TypeScript для конфигов Vite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└── vite.config.ts          # Конфигурация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Корневая директория: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Корневая директория: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`index.html` — главная (и единственная) HTML-страница приложения. Она намеренно почти пустая: содержит только контейнер `div#root` и подключение точки входа.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`package.json` — список всех зависимостей (библиотек) проекта и npm-скрипты (`dev`, `build`, `preview`).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`vite.config.ts` — конфигурация Vite. В минимальном виде подключает плагин React: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&lt;!doctype html&gt;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&lt;html lang="en"&gt;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&lt;meta charset="UTF-8"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&lt;link rel="icon" type="image/svg+xml" href="/favicon.svg"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&lt;meta name="viewport" content="width=device-width, initial-scale=1.0"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&lt;title&gt;my-app&lt;/title&gt;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&lt;/head&gt;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&lt;!-- Сюда React будет рендерить всё приложение --&gt;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id="root"&gt;&lt;/div&gt;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&lt;script type="module" src="/src/main.tsx"&gt;&lt;/script&gt;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&lt;/body&gt;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&lt;/html&gt;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`tsconfig.json` — настройки компилятора TypeScript. Ссылается на `tsconfig.app.json` (код приложения) и `tsconfig.node.json` (конфиги).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{ defineConfig } from 'vite'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react from '@vitejs/plugin-react'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export default defineConfig({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plugins: [react()],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Папка `src/` — сердце приложения: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Папка `src/` — сердце приложения: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`main.tsx` — входная точка. Здесь React «монтируется» в контейнер из `index.html`: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`createRoot` — точка входа React 18+/19: связывает виртуальное дерево React с реальным DOM-элементом.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`StrictMode` — «строгий режим»: в dev-режиме помогает находить потенциальные проблемы (например, лишние побочные эффекты). На production-сборку не влияет.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`App.tsx` — корневой компонент приложения. После удаления демо-кода из шаблона он выглядит так: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{ StrictMode } from 'react'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{ createRoot } from 'react-dom/client'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'./index.css'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App from './App.tsx'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Находим контейнер root и рендерим в него корневой компонент.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createRoot(document.getElementById('root')!).render(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&lt;StrictMode&gt;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&lt;App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&lt;/StrictMode&gt;,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`index.css` — глобальные стили (подключаются в `main.tsx`).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`App.css` — стили корневого компонента (подключаются в `App.tsx`).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Типы окружения Vite (`import.meta.env`, импорт картинок) подключаются автоматически через `"types": ["vite/client"]` в `tsconfig.app.json` — дополнительно настраивать ничего не нужно.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'./App.css'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&lt;h1&gt;Моё первое React-приложение&lt;/h1&gt;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export default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12529"/>
                </a:solidFill>
                <a:latin typeface="Segoe UI"/>
              </a:rPr>
              <a:t>Разница между `public/` и `src/assets/`: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Разница между `public/` и `src/assets/`: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Детальный разбор структуры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`public/` — файлы копируются в сборку без обработки. Ссылка на них абсолютная: `/logo.svg`.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`src/assets/` — файлы обрабатываются сборщиком, их импортируют в код: `import logo from './assets/logo.svg'`. Так Vite может оптимизировать ресурсы.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20140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B5"/>
                </a:solidFill>
                <a:latin typeface="Segoe UI"/>
              </a:rPr>
              <a:t>Практическое создание компонента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56677"/>
                </a:solidFill>
                <a:latin typeface="Segoe UI"/>
              </a:rPr>
              <a:t>Ниже — разбор по пунктам с примерами кода. Каждый слайд содержит блок конспекта.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Практическое создание компонента — ключевая тема раздела.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Давайте создадим компонент для отображения списка товаров.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Создаём файл `src/components/ProductList.tsx`.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Папки `components/` в шаблоне нет — договоримся создавать её сами и складывать туда все компоненты приложения.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Создаём файл `src/components/ProductList.tsx`.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Разберём код: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src/components/ProductList.tsx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Описываем контракт props — какие данные принимает компонент.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interface ProductListProps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title: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description: string;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// Компонент — это функция, которая возвращает JSX.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export function ProductList({ title, description }: ProductListProps)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&lt;section className="product-list"&gt;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&lt;h2&gt;{title}&lt;/h2&gt;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&lt;p&gt;{description}&lt;/p&gt;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&lt;/section&gt;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имя функции начинается с заглавной буквы — иначе React не распознает компонент;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props принимаются через деструктуризацию параметра;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`interface` описывает типы props — TypeScript подскажет, если родитель передаст не то или забудет обязательное свойство.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Ключевые термины раздела.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Подключаем компонент в `App.tsx`: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Подключаем компонент в `App.tsx`: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69494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212529"/>
                </a:solidFill>
                <a:latin typeface="Segoe UI"/>
              </a:rPr>
              <a:t>Запускаем `npm run dev`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 и видим на странице заголовок из `App` и блок из `ProductList`.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12529"/>
                </a:solidFill>
                <a:latin typeface="Segoe UI"/>
              </a:rPr>
              <a:t>Обратите внимание: в React нет ни декораторов, ни селекторов, ни регистрации компонента в модуле. Компонент — это обычная функция, а его подключение — обычный импорт.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Компонент — это обычная функция, а его подключение — обычный импорт.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Запускаем `npm run dev`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РАЗДЕЛ ЛЕКЦИИ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Практическое создание компонента · код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44200" cy="3236976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'./App.css'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import { ProductList } from './components/ProductList'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function App()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return 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&lt;div className="app"&gt;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&lt;h1&gt;Магазин электроники&lt;/h1&gt;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&lt;ProductList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title="Список товаров"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  description="Ноутбуки, мыши и клавиатуры"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  /&gt;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  &lt;/div&gt;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  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>
                <a:solidFill>
                  <a:srgbClr val="1F2D3D"/>
                </a:solidFill>
                <a:latin typeface="Consolas"/>
              </a:rPr>
              <a:t>    export default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07492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074920"/>
            <a:ext cx="82296" cy="141732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84648"/>
            <a:ext cx="10698480" cy="11978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Пример кода — повторить структуру и имена сущностей в конспекте.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Что запомнить с лекции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React — библиотека для построения интерфейсов: компонентный подход, декларативность, JSX.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Vite — инструмент сборки: мгновенный dev-сервер с HMR, production-сборка в `dist/`.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Структура проекта логична и минимальна: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`index.html` — контейнер `div#root` и подключение `src/main.tsx`;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`src/main.tsx` — `createRoot` + `StrictMode`;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`src/App.tsx` — корневой компонент;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`src/components/` — компоненты приложения.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Компонент — функция с именем с заглавной буквы, которая возвращает JSX.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Props — входные данные компонента, типизируются через `interface`.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Для того чтобы использовать компонент, нужно: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React — библиотека для построения интерфейсов: компонентный подход, декларативность, JSX.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Vite — инструмент сборки: мгновенный dev-сервер с HMR, production-сборка в `dist/`.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Структура проекта логична и минимальна: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`index.html` — контейнер `div#root` и подключение `src/main.tsx`;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`src/main.tsx` — `createRoot` + `StrictMode`;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`src/App.tsx` — корневой компонент;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`src/components/` — компоненты приложения.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КОНТРОЛЬНЫЕ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Для самопроверки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React и почему его называют библиотекой, а не фреймворком?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Назовите ключевые концепции React. Что такое props и чем они отличаются от state?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JSX? Чем JSX отличается от HTML? Почему используется `className`, а не `class`?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создать новый проект React с TypeScript с помощью Vite? Какая команда используется?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Какие npm-скрипты есть в проекте Vite и что делает каждый из них? На каких портах работают `npm run dev` и `npm run preview`?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Какова роль `index.html` и `main.tsx`? Что делает функция `createRoot`?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`StrictMode` и зачем он нужен?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такое компонент в React? Как React отличает компонент от обычной функции?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Что произойдёт, если назвать функцию-компонент с маленькой буквы?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типизировать props компонента в TypeScript? Зачем это нужно?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В чём разница между папками `public/` и `src/assets/`?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E7DB5"/>
                </a:solidFill>
                <a:latin typeface="Segoe UI"/>
              </a:rPr>
              <a:t>➔  </a:t>
            </a:r>
            <a:r>
              <a:rPr sz="1500" b="0" i="0">
                <a:solidFill>
                  <a:srgbClr val="212529"/>
                </a:solidFill>
                <a:latin typeface="Segoe UI"/>
              </a:rPr>
              <a:t>Как вывести значение переменной или результат выражения в JSX? Приведите пример.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Ответить на все вопросы — критерий завершения лекции.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C5E6"/>
                </a:solidFill>
                <a:latin typeface="Segoe UI"/>
              </a:rPr>
              <a:t>МАТЕРИАЛЫ ПРЕЗЕНТАЦИИ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Исходники и 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2014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[Презентация к лекции (PPTX)](Презентация%2015.%20Основы%20React,%20структура%20проекта/Лекция%2015.%20Основы%20React,%20структура%20проекта.pptx)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Схемы — папка [schemes/](Презентация%2015.%20Основы%20React,%20структура%20проекта/schemes/): готовые PNG и исходники Excalidraw.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DB5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212529"/>
                </a:solidFill>
                <a:latin typeface="Segoe UI"/>
              </a:rPr>
              <a:t>Скриншоты — папка [screenshots/](Презентация%2015.%20Основы%20React,%20структура%20проекта/screenshots/).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FF7E1"/>
          </a:solidFill>
          <a:ln w="15875">
            <a:solidFill>
              <a:srgbClr val="E8A3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82296" cy="1463040"/>
          </a:xfrm>
          <a:prstGeom prst="rect">
            <a:avLst/>
          </a:prstGeom>
          <a:solidFill>
            <a:srgbClr val="E8A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01768"/>
            <a:ext cx="10698480" cy="12435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31D"/>
                </a:solidFill>
                <a:latin typeface="Segoe UI"/>
              </a:rPr>
              <a:t>ЧТО ЗАКОНСПЕКТИРОВАТЬ — запомни и запиши в конспект: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2E7DB5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6E4F00"/>
                </a:solidFill>
                <a:latin typeface="Segoe UI"/>
              </a:rPr>
              <a:t>Материалы презентации — ссылки и код для самостоятельного изучения.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