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FD4E8"/>
                </a:solidFill>
                <a:latin typeface="Segoe UI"/>
              </a:rPr>
              <a:t>ИП 242 / ИП 245 / ИП 246 · Раздел 5. React · 2 академических часа (90 мин)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9FC5E6"/>
                </a:solidFill>
                <a:latin typeface="Segoe UI"/>
              </a:rPr>
              <a:t>Лекция 16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Компоненты, JSX и props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8E4F0"/>
                </a:solidFill>
                <a:latin typeface="Segoe UI"/>
              </a:rPr>
              <a:t>Каждый слайд содержит выделенный блок “ЧТО ЗАКОНСПЕКТИРОВАТЬ” — определения и ключевые термины, которые студенты записывают в конспект.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ЦЕЛЬ ЛЕКЦИИ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Глубоко понять основную единицу React — компонент. Научиться писать функциональные компоне…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Segoe UI"/>
              </a:rPr>
              <a:t>Глубоко понять основную единицу React — компонент. Научиться писать функциональные компоненты, освоить синтаксис JSX и все способы передачи данных от родительского компонента к дочернему через props, включая типизацию и композицию.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2920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2920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3892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Глубоко понять основную единицу React — компонент. Научиться писать функциональные компоненты, освоить синтаксис JSX и все способы передачи данных от родительского компонента к дочернему через props, включая типизацию и композицию.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АУДИТОРИЯ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Кому предназначена лекция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12529"/>
                </a:solidFill>
                <a:latin typeface="Segoe UI"/>
              </a:rPr>
              <a:t>Студенты, знакомые с основами JavaScript/TypeScript, HTML и CSS, а также со структурой проекта Vite из лекции 15.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Требования: пройдены предыдущие лекции раздела React.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ПЛАН ЛЕКЦИИ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О чём пойдёт речь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700" b="0" i="0">
                <a:solidFill>
                  <a:srgbClr val="212529"/>
                </a:solidFill>
                <a:latin typeface="Segoe UI"/>
              </a:rPr>
              <a:t>1. Компоненты: глубже взгляд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700" b="0" i="0">
                <a:solidFill>
                  <a:srgbClr val="212529"/>
                </a:solidFill>
                <a:latin typeface="Segoe UI"/>
              </a:rPr>
              <a:t>2. JSX: не просто HTML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700" b="0" i="0">
                <a:solidFill>
                  <a:srgbClr val="212529"/>
                </a:solidFill>
                <a:latin typeface="Segoe UI"/>
              </a:rPr>
              <a:t>3. props: связь между компонентами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700" b="0" i="0">
                <a:solidFill>
                  <a:srgbClr val="212529"/>
                </a:solidFill>
                <a:latin typeface="Segoe UI"/>
              </a:rPr>
              <a:t>4. Практика: карточка товара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План лекции — последовательность тем, которые разбираются на паре (90 мин).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120140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2E7DB5"/>
                </a:solidFill>
                <a:latin typeface="Segoe UI"/>
              </a:rPr>
              <a:t>Компоненты: глубже взгляд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677"/>
                </a:solidFill>
                <a:latin typeface="Segoe UI"/>
              </a:rPr>
              <a:t>Ниже — разбор по пунктам с примерами кода. Каждый слайд содержит блок конспекта.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Компоненты: глубже взгляд — ключевая тема раздела.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Функциональный компонент — это обычная функция.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современном React компонент — это функция, которая возвращает JSX-разметку. Никаких классов, конструкторов и специальных механизмов регистрации: компонент объявляется один раз, экспортируется из файла и импортируется туда, где нужен.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Функциональный компонент — это обычная функция.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Использовать его можно двумя способами — как обычную функцию или как JSX-тег: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src/components/Button.tsx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Button()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&lt;button type="button"&gt;Нажми меня&lt;/button&gt;;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Разберём код: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Button } from './components/Button';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Как тег (предпочтительно — читается как разметка)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first = &lt;Button /&gt;;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Как вызов функции (тоже работает, но на практике используют редко)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second = Button();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имя функции — `Button`, то есть компонент называется так же, как файл;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функция не принимает аргументов (пока);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возвращает JSX — разметку, которую React превратит в DOM-элементы;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экспорт — именованный (`export function`), импорт — в фигурных скобках.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Важно: функциональный компонент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не выполняет никакой работы с DOM напрямую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. Он только описывает, как разметка выглядит при данных входных параметрах. Реальное обновление DOM берёт на себя React.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Имя компонента с большой буквы.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React различает компоненты и обычные HTML-теги именно по регистру первой буквы: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не выполняет никакой работы с DOM напрямую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Имя компонента с большой буквы.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имя с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заглавной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буквы (`&lt;ProductCard /&gt;`) — React ищет функцию `ProductCard` в области видимости и вызывает её;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имя со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строчной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буквы (`&lt;productCard /&gt;`) — React считает это ссылкой на HTML-тег `productcard` и просто отрисует неизвестный элемент. В консоли появится предупреждение, а на экране — пустой тег.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заглавной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строчной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Это правило распространяется и на имена переменных с компонентами: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Это правило распространяется и на имена переменных с компонентами: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Соглашение проекта: файл компонента и сам компонент называются одинаково и с большой буквы — `ProductCard.tsx` → `ProductCard`.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Чистые функции и почему это важно.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Компонент должен быть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чистой функцией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(pure function):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1.  при одинаковых props он всегда возвращает одинаковый JSX;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2.  во время рендера он не изменяет внешние переменные, не пишет в DOM, не отправляет запросы и не запускает таймеры.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Почему это критично: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Чистые функции и почему это важно. Компонент должен быть чистой функцией (pure function): 1.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Почему это критично: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Чистые функции и почему это важно.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чистой функцией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Правильно: переменная названа с большой буквы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Header = () =&gt; &lt;header&gt;Шапка сайта&lt;/header&gt;;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Неправильно: React воспримет это как HTML-тег &lt;headerComponent&gt;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headerComponent = () =&gt; &lt;header&gt;Шапка сайта&lt;/header&gt;;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React может вызвать компонент несколько раз подряд — в частности, в `StrictMode` он вызывается дважды в dev-режиме, чтобы помочь найти лишние побочные эффекты;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React может «отбросить» результат рендера, если данные изменились, и вызвать компонент заново;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весь побочный код (запросы, подписки, таймеры) выносится в хуки (`useEffect`) — о них в лекции 18.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Импорт и экспорт: `default` и named.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TypeScript/ES-модулях есть два вида экспорта, и оба встречаются в React-проекте.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Именованный экспорт (named):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Импорт и экспорт: `default` и named.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Именованный экспорт (named):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Чистый компонент: результат зависит только от props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Greeting({ name }: { name: string })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&lt;p&gt;Привет, {name}!&lt;/p&gt;;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Грязный компонент: изменяет внешнюю переменную при рендере — так нельзя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let counter = 0;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BadCounter()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counter++; // побочный эффект во время рендера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&lt;p&gt;Рендеров: {counter}&lt;/p&gt;;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Экспорт по умолчанию (default):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Экспорт по умолчанию (default):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src/components/ProductCard.tsx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&lt;article className="product-card"&gt;...&lt;/article&gt;;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src/App.tsx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ProductCard } from './components/ProductCard';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чём разница: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src/components/ProductCard.tsx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default function ProductCard()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&lt;article className="product-card"&gt;...&lt;/article&gt;;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src/App.tsx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ProductCard from './components/ProductCard';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2014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 | Named export | Default export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--- | --- | ---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Синтаксис экспорта | `export function Button() {}` | `export default function Button() {}`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Синтаксис импорта | `import { Button } from './Button'` | `import Button from './Button'`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Имя при импорте | строго совпадает с экспортом | можно задать любое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Сколько сущностей | сколько угодно в одном файле | только одна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Автодополнение IDE | точное, переименование работает | может подставить неверное имя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Таблица — справочник ключевых значений раздела.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Почему в проекте принят именованный экспорт для компонентов: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имя компонента не может «разъехаться» при импорте — IDE и рефакторинг работают предсказуемо;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из одного файла можно экспортировать несколько связанных вещей (компонент, его типы props, вспомогательные функции);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поиск по имени компонента сразу показывает и объявление, и все места использования;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ESLint и oxlint не жалуются на импорт из файла с default-экспортом.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Исключение — входные точки.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Корневой компонент `App.tsx` и точка входа `main.tsx` из шаблона Vite используют default-экспорт: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Исключение — входные точки.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одном файле можно комбинировать оба вида экспорта, но злоупотреблять этим не стоит: если в файле есть default-экспорт, то именованные сущности в нём лучше не дублировать.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Компоненты: глубже взгляд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src/App.tsx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default App;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src/main.tsx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App from './App.tsx';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120140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2E7DB5"/>
                </a:solidFill>
                <a:latin typeface="Segoe UI"/>
              </a:rPr>
              <a:t>JSX: не просто HTML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677"/>
                </a:solidFill>
                <a:latin typeface="Segoe UI"/>
              </a:rPr>
              <a:t>Ниже — разбор по пунктам с примерами кода. Каждый слайд содержит блок конспекта.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JSX: не просто HTML — ключевая тема раздела.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Что такое JSX.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JSX — расширение синтаксиса JavaScript, которое позволяет писать разметку прямо в коде. Это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не HTML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: перед выполнением JSX компилируется в вызовы функций создания элементов React. Поэтому в JSX действуют правила JavaScript, а не HTML.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Выражения в фигурных скобках `{ }`.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Любое JavaScript-выражение можно вставить в разметку через фигурные скобки. Внутри `{ }` можно: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Это не HTML: перед выполнением JSX компилируется в вызовы функций создания элементов React.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Что такое JSX.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не HTML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Выражения в фигурных скобках `{ }`.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подставить переменную или поле объекта;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выполнить арифметику или вызвать функцию;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использовать тернарный оператор;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отрисовать результат `map`.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src/components/UserProfile.tsx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user =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name: 'Иван',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age: 30,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UserProfile()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const title = 'Профиль пользователя';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function getWelcomeMessage(): string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return `Добро пожаловать, ${user.name}!`;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&lt;section&gt;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&lt;h1&gt;{title}&lt;/h1&gt;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&lt;p&gt;Имя: {user.name}&lt;/p&gt;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&lt;p&gt;Возраст: {user.age + 1}&lt;/p&gt;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&lt;p&gt;{getWelcomeMessage()}&lt;/p&gt;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&lt;p&gt;Следующий год: {2024 + 1}&lt;/p&gt;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&lt;p&gt;Статус: {user.age &gt;= 18 ? 'Взрослый' : 'Несовершеннолетний'}&lt;/p&gt;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&lt;/section&gt;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Результат в браузере: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Обратите внимание на разницу между двумя фигурными скобками: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&lt;section&gt;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&lt;h1&gt;Профиль пользователя&lt;/h1&gt;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&lt;p&gt;Имя: Иван&lt;/p&gt;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&lt;p&gt;Возраст: 31&lt;/p&gt;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&lt;p&gt;Добро пожаловать, Иван!&lt;/p&gt;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&lt;p&gt;Следующий год: 2025&lt;/p&gt;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&lt;p&gt;Статус: Взрослый&lt;/p&gt;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&lt;/section&gt;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Внутри `{ }` нельзя использовать инструкции (`if`, `for`, `const`). Условный рендеринг и списки подробно разбираются в лекции 17.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Атрибуты в camelCase.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Поскольку JSX — это JavaScript, имена атрибутов записываются в camelCase, а не так, как в HTML. Основные соответствия: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Атрибуты в camelCase. Поскольку JSX — это JavaScript, имена атрибутов записываются в camelCase, а не так, как в HTML.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Атрибуты в camelCase.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Строковый литерал — кавычки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 className="card"&gt;Текст&lt;/p&gt;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Выражение — фигурные скобки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 className={isActive ? 'card card--active' : 'card'}&gt;Текст&lt;/p&gt;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2014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HTML | JSX | Комментарий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------ | ----- | -------------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`class` | `className` | `class` — зарезервированное слово в JavaScript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`for` | `htmlFor` | для связи `&lt;label&gt;` и поля ввода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`onclick` | `onClick` | событие передаётся функцией, а не строкой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`onchange` | `onChange` | обработчики событий — в camelCase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`tabindex` | `tabIndex` |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`colspan` / `rowspan` | `colSpan` / `rowSpan` |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`readonly` | `readOnly` |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`maxlength` | `maxLength` |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`autocomplete` | `autoComplete` |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Таблица — справочник ключевых значений раздела.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Пример: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Важно: на обработчик события в JSX передаётся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функция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, а не строка с кодом: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функция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SearchForm()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function handleClick()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console.log('Кнопка нажата');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&lt;form&gt;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&lt;label htmlFor="query"&gt;Поиск:&lt;/label&gt;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&lt;input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id="query"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type="text"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autoComplete="off"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maxLength={50}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placeholder="Введите запрос"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&lt;button type="button" onClick={handleClick}&gt;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Найти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&lt;/button&gt;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&lt;/form&gt;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Атрибут `style` — объект JavaScript.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JSX в `style` передаётся не строка CSS, а объект. Имена CSS-свойств записываются в camelCase, а числовые значения трактуются как пиксели: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Атрибут `style` — объект JavaScript.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Правильно: ссылка на функцию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&lt;button onClick={handleClick}&gt;Нажми меня&lt;/button&gt;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Правильно: стрелочная функция, если нужны аргументы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&lt;button onClick={() =&gt; deleteItem(product.id)}&gt;Удалить&lt;/button&gt;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Неправильно: вызов функции произойдёт сразу при рендере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&lt;button onClick={handleClick()}&gt;Нажми меня&lt;/button&gt;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Двойные фигурные скобки здесь не случайны: внешние `{ }` — это JSX-выражение, а внутренние `{ }` — литерал объекта.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Для постоянных стилей лучше использовать CSS-классы, а `style` оставлять для действительно динамических значений: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Двойные фигурные скобки здесь не случайны: внешние `{ }` — это JSX-выражение, а внутренние `{ }` — литерал объекта.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Notice({ isWarning }: { isWarning: boolean })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&lt;p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style={{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color: isWarning ? 'red' : 'green',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fontSize: 16,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fontWeight: 'bold',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backgroundColor: '#f5f5f5',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}}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Текст с изменяемым размером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Самозакрывающиеся теги и единый корневой элемент.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JSX, в отличие от HTML, любой тег без содержимого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обязан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быть самозакрывающимся: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Самозакрывающиеся теги и единый корневой элемент.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обязан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&lt;div className="card" style={{ width: `${progress}%` }}&gt;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Прогресс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&lt;/div&gt;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Второе жёсткое правило: компонент может вернуть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только один корневой элемент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. Такой код не скомпилируется: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только один корневой элемент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Правильно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&lt;img src="/logo.svg" alt="Логотип"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&lt;input type="text"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&lt;br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&lt;hr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Неправильно — это ошибка компиляции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&lt;img src="/logo.svg" alt="Логотип"&gt;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&lt;br&gt;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Обернуть элементы можно в общий контейнер: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Ошибка: два соседних элемента на верхнем уровне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Header()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&lt;h1&gt;Магазин электроники&lt;/h1&gt;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&lt;nav&gt;...&lt;/nav&gt;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Но лишний `div` не всегда нужен и может испортить вёрстку (например, сломать Grid или Flex). Для таких случаев есть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фрагменты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Фрагменты `&lt;&gt;...&lt;/&gt;`.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Фрагмент — это «невидимая» обёртка: React не создаёт для неё DOM-элемент. Короткий синтаксис — пустые угловые скобки: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Фрагменты `&lt;&gt;...&lt;/&gt;`. Фрагмент — это «невидимая» обёртка: React не создаёт для неё DOM-элемент.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фрагменты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Фрагменты `&lt;&gt;...&lt;/&gt;`.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Header()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&lt;header&gt;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&lt;h1&gt;Магазин электроники&lt;/h1&gt;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&lt;nav&gt;...&lt;/nav&gt;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&lt;/header&gt;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Полный синтаксис `&lt;Fragment&gt;` нужен, если фрагменту требуется атрибут, чаще всего `key` при выводе списка: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Header()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&lt;h1&gt;Магазин электроники&lt;/h1&gt;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&lt;nav&gt;...&lt;/nav&gt;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Итого правило: несколько соседних элементов — оборачиваем во фрагмент `&lt;&gt;...&lt;/&gt;`; один элемент — фрагмент не нужен.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Безопасность в JSX: автоэкранирование.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React автоматически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экранирует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все значения, вставленные через `{ }`. Это защищает от XSS-атак: если в данных окажется HTML-тег или скрипт, он будет показан как обычный текст, а не выполнен.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Безопасность в JSX: автоэкранирование.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экранирует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Fragment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DescriptionList({ items }: { items: { term: string; value: string }[] })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&lt;dl&gt;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{items.map((item) =&gt;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&lt;Fragment key={item.term}&gt;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  &lt;dt&gt;{item.term}&lt;/dt&gt;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  &lt;dd&gt;{item.value}&lt;/dd&gt;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&lt;/Fragment&gt;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))}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&lt;/dl&gt;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На странице пользователь увидит текст как есть, а не выполненный скрипт: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Comment()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const maliciousCode = '&lt;script&gt;alert("XSS")&lt;/script&gt;&lt;h1&gt;Взлом&lt;/h1&gt;';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&lt;p&gt;{maliciousCode}&lt;/p&gt;;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Вставить «сырой» HTML можно только осознанно, через специальный prop `dangerouslySetInnerHTML`: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&lt;p&gt;&amp;lt;script&amp;gt;alert("XSS")&amp;lt;/script&amp;gt;&amp;lt;h1&amp;gt;Взлом&amp;lt;/h1&amp;gt;&lt;/p&gt;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Такое название React дал намеренно: оно предупреждает разработчика, что ответственность за безопасность переходит к нему. Использовать этот prop без крайней необходимости не следует.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JSX: не просто HTML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ОПАСНО: применять только к доверенному контенту, прошедшему санитизацию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&lt;div dangerouslySetInnerHTML={{ __html: trustedHtml }} /&gt;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120140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2E7DB5"/>
                </a:solidFill>
                <a:latin typeface="Segoe UI"/>
              </a:rPr>
              <a:t>props: связь между компонентами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677"/>
                </a:solidFill>
                <a:latin typeface="Segoe UI"/>
              </a:rPr>
              <a:t>Ниже — разбор по пунктам с примерами кода. Каждый слайд содержит блок конспекта.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props: связь между компонентами — ключевая тема раздела.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props — это входные данные компонента.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Props (свойства) — единственный способ передать данные от родительского компонента к дочернему. Они передаются как атрибуты JSX и доступны внутри компонента через первый параметр функции.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Главное правило: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props доступны только для чтения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. Внутри компонента их нельзя изменять — это гарантирует предсказуемость и односторонний поток данных сверху вниз.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Внутри компонента их нельзя изменять — это гарантирует предсказуемость и односторонний поток данных сверху вниз.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props — это входные данные компонента.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props доступны только для чтения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Обратите внимание: строка передаётся в кавычках (`title="Ноутбук"`), а число, объект, массив или выражение — в фигурных скобках (`price={79990}`, `product={item}`, `tags={['новинка']}`). Без фигурных скобок значение `79990` или `item` превратилось бы в строку.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Деструктуризация параметров.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Писать `props.title`, `props.price`, `props.imageUrl` утомительно. На практике props сразу деструктурируют прямо в параметрах функции: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Деструктуризация параметров.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Родитель передаёт данные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&lt;ProductCard title="Ноутбук" price={79990}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Ребёнок принимает их как параметр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ProductCard(props: ProductCardProps)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&lt;h3&gt;{props.title}&lt;/h3&gt;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&lt;p&gt;{props.price} ₽&lt;/p&gt;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Тип при этом указывается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после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деструктуризации — через двоеточие. Это позволяет IDE подсказывать имена доступных props и находить опечатки.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Типизация: `interface Props` и `type Props`.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Контракт props описывают в TypeScript двумя способами — и оба равнозначны: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Это позволяет IDE подсказывать имена доступных props и находить опечатки.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после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Типизация: `interface Props` и `type Props`.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ProductCardProps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ProductCard({ title, price }: ProductCardProps)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&lt;h3&gt;{title}&lt;/h3&gt;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&lt;p&gt;{price} ₽&lt;/p&gt;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Соглашение проекта: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Вариант 1: interface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ProductCardProps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isAvailable: boolean;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Вариант 2: type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type ProductCardProps =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isAvailable: boolean;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тип props называется `{ИмяКомпонента}Props` — `ProductCardProps`, `ButtonProps`, `UserFormProps`;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тип описывается рядом с компонентом в том же файле, вверху;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 проекте используется `interface` для props — он лучше читается и легко расширяется другим интерфейсом;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если тип нужен и в родителе (например, для формирования данных), его экспортируют: `export interface ProductCardProps`.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Тип можно задать и прямо в параметрах, если компонент маленький и тип больше нигде не нужен: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Что даёт типизация props: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Badge({ text }: { text: string })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&lt;span className="badge"&gt;{text}&lt;/span&gt;;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ошибка «родитель забыл передать обязательный prop» видна ещё в редакторе;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подсказки IDE: имена, типы, автодополнение значений;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безопасный рефакторинг: переименование prop меняет все места использования;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самодокументируемость: по `interface Props` сразу видно контракт компонента.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Необязательные props и значения по умолчанию.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Prop становится необязательным, если после имени поставить `?`: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Необязательные props и значения по умолчанию.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Для необязательных props задают значения по умолчанию — прямо в деструктуризации: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ProductCardProps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discount?: number;      // может быть не передан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imageUrl?: string;      // может быть не передан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Особенность: значение по умолчанию срабатывает только тогда, когда prop равен `undefined` (то есть родитель его не передал). Если родитель осознанно передал `discount={0}`, то именно `0` и будет использовано — значение по умолчанию не подменит его.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discount = 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imageUrl = '/images/placeholder.svg',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}: ProductCardProps)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const finalPrice = price - (price * discount) / 100;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 className="product-card"&gt;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&lt;img src={imageUrl} alt={title}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&lt;h3&gt;{title}&lt;/h3&gt;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&lt;p&gt;{finalPrice.toFixed(0)} ₽&lt;/p&gt;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{discount &gt; 0 &amp;&amp; &lt;span className="badge"&gt;Скидка {discount}%&lt;/span&gt;}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Особый prop `children: ReactNode`.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`children` — это вложенное содержимое JSX-тега. React передаёт его компоненту автоматически: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Особый prop `children: ReactNode`. `children` — это вложенное содержимое JSX-тега.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Особый prop `children: ReactNode`.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discount не передан — сработает значение по умолчанию 0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&lt;ProductCard title="Мышь" price={1500}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discount передан явно — используется 10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&lt;ProductCard title="Мышь" price={1500} discount={10} /&gt;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Чтобы компонент мог отрисовать это содержимое, prop `children` нужно принять и вставить в JSX. Тип для него — `ReactNode`, который импортируется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как тип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Чтобы компонент мог отрисовать это содержимое, prop `children` нужно принять и вставить в JSX.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как тип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&lt;Card&gt;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&lt;h2&gt;Заголовок&lt;/h2&gt;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&lt;p&gt;Текст внутри карточки&lt;/p&gt;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&lt;/Card&gt;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`ReactNode` — это общий тип для всего, что React умеет рендерить: JSX-элементы, строки, числа, массивы, `null`, `undefined`, фрагменты.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Использование `Card`: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src/components/Card.tsx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ReactNode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children: ReactNode;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Card({ title, children }: 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&lt;section className="card"&gt;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 className="card__title"&gt;{title}&lt;/h3&gt;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&lt;div className="card__body"&gt;{children}&lt;/div&gt;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&lt;/section&gt;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`children` — основа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композиции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: родитель решает, какое содержимое положить внутрь, а дочерний компонент отвечает только за оформление.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&gt; Синтаксис `import type { ReactNode } from 'react'` обязателен в шаблоне `react-ts` с параметром `verbatimModuleSyntax`: типы импортируются отдельно и удаляются компилятором, чтобы не попасть в итоговый JavaScript-бандл.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Как компонент узнаёт об изменении props.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Отдельного метода жизненного цикла для этого в React нет. Всё проще: когда родитель перерисовывается и передаёт новые значения props, React вызывает дочерний компонент заново с новыми props. Результат рендера зависит только от текущих props.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композиции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Как компонент узнаёт об изменении props.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&lt;Card title="Доставка"&gt;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&lt;p&gt;Курьером по городу — 300 ₽&lt;/p&gt;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&lt;p&gt;Самовывоз — бесплатно&lt;/p&gt;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&lt;/Card&gt;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props — неизменяемые (immutable): дочерний компонент не может их поменять;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обновление UI инициирует родитель, меняя собственное состояние (state) или передавая новые данные;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React сравнивает предыдущий и новый JSX и обновляет в DOM только изменившиеся узлы.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Если при изменении prop нужно выполнить побочное действие (например, запрос к серверу), оно выносится в хук `useEffect` с нужным prop в списке зависимостей — это тема лекции 18. Смысл правила прост: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реагировать на изменение входных данных, не изменяя их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Композиция и дробление UI на компоненты.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Большой компонент с длинным JSX тяжело читать и сопровождать. Правило: дробим интерфейс на маленькие компоненты, каждый из которых отвечает за одну вещь (single responsibility).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Признаки, что компонент пора разделить: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реагировать на изменение входных данных, не изменяя их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Композиция и дробление UI на компоненты.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 одном компоненте смешаны layout, логика и повторяющиеся фрагменты;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одинаковую разметку приходится копировать несколько раз;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JSX-функция не помещается на один экран;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разные части интерфейса меняются по разным причинам.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Например, вместо «монолита»: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выделяем самостоятельные блоки `Price` и `Badge`, а `ProductCard` становится композицией: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Плохо: один компонент делает всё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ProductPage()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&lt;img src="/images/laptop.svg" alt="Ноутбук"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&lt;h3&gt;Ноутбук&lt;/h3&gt;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&lt;s&gt;89990 ₽&lt;/s&gt; &lt;strong&gt;79990 ₽&lt;/strong&gt;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&lt;span className="badge"&gt;Скидка 11%&lt;/span&gt;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src/components/Price.tsx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PriceProps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value: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oldValue?: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Price({ value, oldValue }: PriceProps)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&lt;p className="price"&gt;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{oldValue !== undefined &amp;&amp; &lt;s&gt;{oldValue} ₽&lt;/s&gt;} &lt;strong&gt;{value} ₽&lt;/strong&gt;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src/components/Badge.tsx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ReactNode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Badge({ children }: { children: ReactNode })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&lt;span className="badge"&gt;{children}&lt;/span&gt;;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src/components/ProductCard.tsx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ReactNode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Badge } from './Badge';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Price } from './Price';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 (продолжение)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interface ProductCardProps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oldPrice?: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imageUrl?: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discount?: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children?: ReactNode;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oldPrice,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imageUrl = '/images/placeholder.svg',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discount = 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children,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}: ProductCardProps)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 className="product-card"&gt;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&lt;img className="product-card__image" src={imageUrl} alt={title}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 className="product-card__title"&gt;{title}&lt;/h3&gt;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&lt;Price value={price} oldValue={oldPrice}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{discount &gt; 0 &amp;&amp; &lt;Badge&gt;Скидка {discount}%&lt;/Badge&gt;}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{children}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 · код (продолжение)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Теперь каждый блок можно переиспользовать и тестировать отдельно, а `ProductCard` остаётся читаемым.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Сравнительная таблица способов передачи данных.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Сравнительная таблица способов передачи данных.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20140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Что передаём | Как выглядит в JSX | Направление | Пример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:--- | :--- | :--- | :---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Значение prop | `&lt;Card title="Привет" /&gt;` | Родитель → Ребёнок | строка в кавычках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Выражение как prop | `&lt;Card price={product.price * 0.9} /&gt;` | Родитель → Ребёнок | значение в фигурных скобках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Вложенный JSX | `&lt;Card&gt;&lt;p&gt;Текст&lt;/p&gt;&lt;/Card&gt;` | Родитель → Ребёнок | приходит как `children`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Обратный вызов (callback) | `&lt;Button onClick={handleSave} /&gt;` | Ребёнок → Родитель | ребёнок вызывает переданную функцию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12529"/>
                </a:solidFill>
                <a:latin typeface="Segoe UI"/>
              </a:rPr>
              <a:t>Разметка через выражение | `&lt;p&gt;{user.name}&lt;/p&gt;` | Данные → Разметка | любое JS-выражение в `{ }`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Таблица — справочник ключевых значений раздела.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props: связь между компонентами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Ключевая идея React: данные идут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вниз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через props, а события — </a:t>
            </a:r>
            <a:r>
              <a:rPr sz="1500" b="1" i="0">
                <a:solidFill>
                  <a:srgbClr val="212529"/>
                </a:solidFill>
                <a:latin typeface="Segoe UI"/>
              </a:rPr>
              <a:t>вверх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через функции-обработчики, переданные как props. Это односторонний поток данных, и именно он делает поведение приложения предсказуемым.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Это односторонний поток данных, и именно он делает поведение приложения предсказуемым.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вниз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вверх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120140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2E7DB5"/>
                </a:solidFill>
                <a:latin typeface="Segoe UI"/>
              </a:rPr>
              <a:t>Практика: создание компонента «Карточка товара»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677"/>
                </a:solidFill>
                <a:latin typeface="Segoe UI"/>
              </a:rPr>
              <a:t>Ниже — разбор по пунктам с примерами кода. Каждый слайд содержит блок конспекта.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Практика: создание компонента «Карточка товара» — ключевая тема раздела.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Соберём небольшое приложение магазина электроники из компонентов, типизированных props и композиции.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1. Тип товара.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Опишем общую модель данных, чтобы не дублировать типы: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1. Тип товара.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2. Компонент `Badge`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— маленький переиспользуемый бейдж: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2. Компонент `Badge`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src/types/product.ts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interface Product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id: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title: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price: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oldPrice?: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discount?: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imageUrl?: string;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isAvailable: boolean;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3. Компонент `Price`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— вывод цены со старой ценой: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3. Компонент `Price`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src/components/Badge.tsx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ReactNode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BadgeProps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children: ReactNode;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variant?: 'default' | 'danger';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Badge({ children, variant = 'default' }: BadgeProps)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&lt;span className={variant === 'danger' ? 'badge badge--danger' : 'badge'}&gt;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{children}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&lt;/span&gt;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4. Компонент `ProductCard`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— типизированные props, необязательные props с значениями по умолчанию, `children`, обратный вызов: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4. Компонент `ProductCard`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src/components/Price.tsx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interface PriceProps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value: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oldValue?: number;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Price({ value, oldValue }: PriceProps)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&lt;p className="price"&gt;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{oldValue !== undefined &amp;&amp; &lt;s&gt;{oldValue} ₽&lt;/s&gt;} &lt;strong&gt;{value} ₽&lt;/strong&gt;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src/components/ProductCard.tsx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ReactNode } from 'react';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Product } from '../types/product';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Badge } from './Badge';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Price } from './Price';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interface ProductCardProps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product: Product;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onSelect?: (id: number) =&gt; void;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children?: ReactNode;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function ProductCard({ product, onSelect, children }: ProductCardProps)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const hasDiscount = product.discount !== undefined &amp;&amp; product.discount &gt; 0;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function handleSelect()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onSelect?.(product.id);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&lt;article className="product-card"&gt;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&lt;img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className="product-card__image"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src={product.imageUrl ?? '/images/placeholder.svg'}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 (продолжение)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alt={product.title}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&lt;h3 className="product-card__title"&gt;{product.title}&lt;/h3&gt;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&lt;Price value={product.price} oldValue={product.oldPrice} /&gt;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{hasDiscount &amp;&amp; &lt;Badge variant="danger"&gt;Скидка {product.discount}%&lt;/Badge&gt;}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{!product.isAvailable &amp;&amp; &lt;Badge&gt;Нет в наличии&lt;/Badge&gt;}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{children}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&lt;button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type="button"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onClick={handleSelect}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disabled={!product.isAvailable}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Подробнее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&lt;/button&gt;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&lt;/article&gt;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Разберём код: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`product: Product` — обязательный prop с объектом товара;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`onSelect?: (id: number) =&gt; void` — необязательный обратный вызов: дочерний компонент сообщает родителю, что карточку выбрали;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`children?: ReactNode` — необязательное вложенное содержимое;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`onSelect?.(product.id)` — безопасный вызов: если обработчик не передан, ничего не произойдёт;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`product.imageUrl ?? '/images/placeholder.svg'` — подстановка значения, если поле не задано.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5. Подключаем карточки в `App.tsx`: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5. Подключаем карточки в `App.tsx`: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// src/App.tsx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'./App.css';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ProductCard } from './components/ProductCard';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{ Badge } from './components/Badge';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import type { Product } from './types/product';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const products: Product[] = [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id: 1,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title: 'Ноутбук',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price: 79990,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oldPrice: 89990,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discount: 11,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imageUrl: '/images/laptop.svg',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isAvailable: true,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id: 2,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title: 'Мышь',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price: 1500,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imageUrl: '/images/mouse.svg',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isAvailable: true,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];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 (продолжение)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function App()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function handleSelect(id: number)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console.log('Выбран товар с id =', id);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return (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&lt;div className="app"&gt;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&lt;h1&gt;Магазин электроники&lt;/h1&gt;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&lt;ProductCard product={products[0]} onSelect={handleSelect}&gt;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&lt;p&gt;В комплекте чехол и бесплатная доставка.&lt;/p&gt;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&lt;/ProductCard&gt;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&lt;ProductCard product={products[1]}&gt;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  &lt;Badge&gt;Хит продаж&lt;/Badge&gt;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  &lt;/ProductCard&gt;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  &lt;/div&gt;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);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export default App;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Обратите внимание: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данные товаров хранятся в родителе и передаются вниз через prop `product`;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во второй карточке `onSelect` не передан — это допустимо, потому что prop необязательный;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содержимое внутри `&lt;ProductCard&gt;...&lt;/ProductCard&gt;` попадает в `children` и рендерится на месте `{children}`;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сами карточки ничего не знают о том, откуда взялись данные и что делает родитель при выборе товара.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Ключевые термины раздела.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6. Минимальные стили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— например, в `src/App.css`: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6. Минимальные стили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.app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max-width: 960px;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margin: 0 auto;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padding: 16px;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.product-card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display: flex;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gap: 16px;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align-items: center;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padding: 16px;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border: 1px solid #e5e5e5;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border-radius: 12px;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margin-block: 16px;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.product-card__image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width: 96px;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height: 96px;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object-fit: contain;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.price s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color: #999;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 · код (продолжение)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35661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744200" cy="3236976"/>
          </a:xfrm>
          <a:prstGeom prst="rect">
            <a:avLst/>
          </a:prstGeom>
          <a:noFill/>
        </p:spPr>
        <p:txBody>
          <a:bodyPr wrap="non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margin-right: 8px;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.badge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display: inline-block;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padding: 4px 8px;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border-radius: 999px;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background: #eef2ff;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color: #3730a3;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font-size: 12px;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.badge--danger {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background: #fee2e2;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  color: #991b1b;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>
                <a:solidFill>
                  <a:srgbClr val="1F2D3D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Пример кода — повторить структуру и имена сущностей в конспекте.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РАЗДЕЛ ЛЕКЦИИ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Практика: создание компонента «Карточка товара»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69494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212529"/>
                </a:solidFill>
                <a:latin typeface="Segoe UI"/>
              </a:rPr>
              <a:t>Шаг 7. Запускаем `npm run dev`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 и видим на странице заголовок из `App` и две карточки товаров: первая — со скидкой и вложенным описанием, вторая — с бейджем «Хит продаж».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12529"/>
                </a:solidFill>
                <a:latin typeface="Segoe UI"/>
              </a:rPr>
              <a:t>В React нет ни особого способа регистрации компонента, ни отдельного файла шаблона: компонент — это обычная функция, а его подключение — обычный импорт. Данные приходят через props, вложенная разметка — через `children`, события — через функции-обработчики.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07492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074920"/>
            <a:ext cx="82296" cy="141732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84648"/>
            <a:ext cx="10698480" cy="119786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Шаг 7. Запускаем `npm run dev`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РЕЗЮМЕ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Что запомнить с лекции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Компонент — это обычная функция, которая возвращает JSX. Имя компонента всегда начинается с большой буквы, иначе React примет его за HTML-тег.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Чистота — обязательное свойство компонента: одинаковые props → одинаковый JSX, никаких побочных эффектов во время рендера.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Импорт и экспорт: компоненты проекта используют именованный экспорт (`export function Button`), входные точки (`App.tsx`, `main.tsx`) — экспорт по умолчанию.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JSX — не HTML, а синтаксис JavaScript: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JavaScript-выражения — в фигурных скобках `{ }`;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атрибуты — в camelCase: `className`, `htmlFor`, `onClick`, `tabIndex`;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`style` — объект JavaScript, а не строка CSS;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одиночные теги самозакрываются: `&lt;img /&gt;`, `&lt;input /&gt;`;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корневой элемент только один; несколько соседних элементов оборачиваются во фрагмент `&lt;&gt;...&lt;/&gt;`;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вставленные данные автоматически экранируются — это защита от XSS.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props — входные данные компонента, доступные только для чтения: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передаются как JSX-атрибуты, принимаются деструктуризацией параметров;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типизируются через `interface {ИмяКомпонента}Props` (или `type`);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необязательные props помечаются `?` и получают значения по умолчанию в деструктуризации;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`children: ReactNode` — стандартный способ передать вложенную разметку.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Поток данных односторонний: данные идут вниз через props, события — вверх через функции-обработчики.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Композиция — основа React: интерфейс дробится на маленькие компоненты, каждый из которых отвечает за одну задачу.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Чтобы использовать компонент, нужно: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Компонент — это обычная функция, которая возвращает JSX. Имя компонента всегда начинается с большой буквы, иначе React примет его за HTML-тег.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Чистота — обязательное свойство компонента: одинаковые props → одинаковый JSX, никаких побочных эффектов во время рендера.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Импорт и экспорт: компоненты проекта используют именованный экспорт (`export function Button`), входные точки (`App.tsx`, `main.tsx`) — экспорт по умолчанию.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JSX — не HTML, а синтаксис JavaScript: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JavaScript-выражения — в фигурных скобках `{ }`;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атрибуты — в camelCase: `className`, `htmlFor`, `onClick`, `tabIndex`;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`style` — объект JavaScript, а не строка CSS;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КОНТРОЛЬНЫЕ 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Для самопроверки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200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Что такое функциональный компонент в React и что он должен возвращать?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Почему имя компонента обязательно начинается с большой буквы? Что произойдёт, если написать его со строчной буквы?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Что означает «чистая функция» применительно к компоненту? Приведите пример нарушения чистоты и объясните, чем оно опасно.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В чём разница между `export function Button` и `export default function Button`? Почему в проекте для компонентов принят именованный экспорт, а для `App.tsx` — default?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Что такое JSX и чем он отличается от HTML? Почему используется `className`, а не `class`?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Как вывести значение переменной или результат выражения в JSX? Приведите пример с вызовом функции и с тернарным оператором.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Как в JSX задать инлайн-стили? Почему в `style` используются двойные фигурные скобки и чем имена свойств отличаются от CSS?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Почему у `&lt;img&gt;` и `&lt;input&gt;` в JSX обязательны самозакрывающиеся теги? Что будет, если написать их как в HTML?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Зачем нужны фрагменты `&lt;&gt;...&lt;/&gt;`? В каком случае вместо короткого синтаксиса приходится использовать `&lt;Fragment key={...}&gt;`?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Что такое props? Почему их нельзя изменять внутри компонента и как React передаёт их в дочерний компонент?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Как типизировать props через `interface`? Что произойдёт, если родитель не передаст обязательный prop, и как сделать prop необязательным со значением по умолчанию?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2E7DB5"/>
                </a:solidFill>
                <a:latin typeface="Segoe UI"/>
              </a:rPr>
              <a:t>➔  </a:t>
            </a:r>
            <a:r>
              <a:rPr sz="1500" b="0" i="0">
                <a:solidFill>
                  <a:srgbClr val="212529"/>
                </a:solidFill>
                <a:latin typeface="Segoe UI"/>
              </a:rPr>
              <a:t>Что такое `children` и какого типа он бывает? Приведите пример компонента-обёртки, использующего `children`, и объясните, как это помогает строить композицию.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Ответить на все вопросы — критерий завершения лекции.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4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2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11556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FC5E6"/>
                </a:solidFill>
                <a:latin typeface="Segoe UI"/>
              </a:rPr>
              <a:t>МАТЕРИАЛЫ ПРЕЗЕНТАЦИИ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</a:rPr>
              <a:t>Исходники и 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20140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[Презентация к лекции (PPTX)](Презентация%2016.%20Компоненты,%20JSX%20и%20props/Лекция%2016.%20Компоненты,%20JSX%20и%20props.pptx)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Схемы — папка [schemes/](Презентация%2016.%20Компоненты,%20JSX%20и%20props/schemes/): готовые PNG и исходники Excalidraw.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7DB5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212529"/>
                </a:solidFill>
                <a:latin typeface="Segoe UI"/>
              </a:rPr>
              <a:t>Скриншоты — папка [screenshots/](Презентация%2016.%20Компоненты,%20JSX%20и%20props/screenshots/).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892040"/>
            <a:ext cx="11201400" cy="1463040"/>
          </a:xfrm>
          <a:prstGeom prst="roundRect">
            <a:avLst>
              <a:gd name="adj" fmla="val 6000"/>
            </a:avLst>
          </a:prstGeom>
          <a:solidFill>
            <a:srgbClr val="FFF7E1"/>
          </a:solidFill>
          <a:ln w="15875">
            <a:solidFill>
              <a:srgbClr val="E8A3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82296" cy="1463040"/>
          </a:xfrm>
          <a:prstGeom prst="rect">
            <a:avLst/>
          </a:prstGeom>
          <a:solidFill>
            <a:srgbClr val="E8A3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01768"/>
            <a:ext cx="1069848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A31D"/>
                </a:solidFill>
                <a:latin typeface="Segoe UI"/>
              </a:rPr>
              <a:t>ЧТО ЗАКОНСПЕКТИРОВАТЬ — запомни и запиши в конспект: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B5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6E4F00"/>
                </a:solidFill>
                <a:latin typeface="Segoe UI"/>
              </a:rPr>
              <a:t>Материалы презентации — ссылки и код для самостоятельного изучения.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